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solidFill>
            <a:srgbClr val="B02A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9D27"/>
                </a:solidFill>
              </a:rPr>
              <a:t>ICICI LOMBARD ANALYTICS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India's Power Sector Story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CCCCC"/>
                </a:solidFill>
              </a:rPr>
              <a:t>From 20 GW in 1975 to 450 GW in 2025 — A 50-year transformation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CCCCC"/>
                </a:solidFill>
              </a:rPr>
              <a:t>of the world's 3rd largest electricity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53035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Data: CEA • NPP (npp.gov.in) • Ministry of Power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Last Updated: June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ICICI Lombard General Insurance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Slide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9D2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Big Picture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India's power sector at a glance — June 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2A2A4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9D27"/>
                </a:solidFill>
              </a:rPr>
              <a:t>450 GW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Installed Capacity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20116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2A2A4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2860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50"/>
                </a:solidFill>
              </a:rPr>
              <a:t>1,752 BU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Annual Generation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2A2A4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860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5B75"/>
                </a:solidFill>
              </a:rPr>
              <a:t>36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States &amp; UTs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35440" y="20116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2A2A4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2860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2A30"/>
                </a:solidFill>
              </a:rPr>
              <a:t>22.5×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3544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Growth Since 1975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ICICI Lombard General Insurance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Slide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9D2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Energy Mix — The Great Divide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Installed capacity split between fossil and non-fossil sources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126480" cy="640080"/>
          </a:xfrm>
          <a:prstGeom prst="rect">
            <a:avLst/>
          </a:prstGeom>
          <a:solidFill>
            <a:srgbClr val="B02A3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🔥 Fossil — 243.87 GW (54.2%)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1645920"/>
            <a:ext cx="5148072" cy="640080"/>
          </a:xfrm>
          <a:prstGeom prst="rect">
            <a:avLst/>
          </a:prstGeom>
          <a:solidFill>
            <a:srgbClr val="005B75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645920"/>
            <a:ext cx="5148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🌿 Non-Fossil — 206.42 GW (45.8%)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2A2A4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A30"/>
                </a:solidFill>
              </a:rPr>
              <a:t>🔥 Fossil Energy — 243.87 GW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Coal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211,540 MW (86.7%)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Natural Gas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24,900 MW (10.2%)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Lignite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4663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6,740 MW (2.8%)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5303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Diesel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0" y="5303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690 MW (0.3%)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265176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2A2A4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B75"/>
                </a:solidFill>
              </a:rPr>
              <a:t>🌿 Non-Fossil Energy — 206.42 GW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Solar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90,570 MW (43.9%)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Wind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47,650 MW (23.1%)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Large Hydro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61120" y="4480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47,050 MW (22.8%)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9224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Biomass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96112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10,750 MW (5.2%)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92240" y="5577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Nuclear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961120" y="5577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8,180 MW (4.0%)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ICICI Lombard General Insurance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Slide 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9D2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Growth Story — 1975 to 2025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India's installed capacity grew 22.5× in 50 years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A2A4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1975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9D27"/>
                </a:solidFill>
              </a:rPr>
              <a:t>20 GW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97280" cy="164592"/>
          </a:xfrm>
          <a:prstGeom prst="rect">
            <a:avLst>
              <a:gd name="adj" fmla="val 27778"/>
            </a:avLst>
          </a:prstGeom>
          <a:solidFill>
            <a:srgbClr val="44446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200400"/>
            <a:ext cx="43891" cy="164592"/>
          </a:xfrm>
          <a:prstGeom prst="rect">
            <a:avLst>
              <a:gd name="adj" fmla="val 104167"/>
            </a:avLst>
          </a:prstGeom>
          <a:solidFill>
            <a:srgbClr val="F99D27"/>
          </a:solidFill>
          <a:ln/>
        </p:spPr>
      </p:sp>
      <p:sp>
        <p:nvSpPr>
          <p:cNvPr id="9" name="Shape 7"/>
          <p:cNvSpPr/>
          <p:nvPr/>
        </p:nvSpPr>
        <p:spPr>
          <a:xfrm>
            <a:off x="2103120" y="18288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A2A4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1990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377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9D27"/>
                </a:solidFill>
              </a:rPr>
              <a:t>64 GW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286000" y="3200400"/>
            <a:ext cx="1097280" cy="164592"/>
          </a:xfrm>
          <a:prstGeom prst="rect">
            <a:avLst>
              <a:gd name="adj" fmla="val 27778"/>
            </a:avLst>
          </a:prstGeom>
          <a:solidFill>
            <a:srgbClr val="444466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3200400"/>
            <a:ext cx="153619" cy="164592"/>
          </a:xfrm>
          <a:prstGeom prst="rect">
            <a:avLst>
              <a:gd name="adj" fmla="val 29762"/>
            </a:avLst>
          </a:prstGeom>
          <a:solidFill>
            <a:srgbClr val="F99D27"/>
          </a:solidFill>
          <a:ln/>
        </p:spPr>
      </p:sp>
      <p:sp>
        <p:nvSpPr>
          <p:cNvPr id="14" name="Shape 12"/>
          <p:cNvSpPr/>
          <p:nvPr/>
        </p:nvSpPr>
        <p:spPr>
          <a:xfrm>
            <a:off x="3749040" y="18288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A2A4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2000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2377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9D27"/>
                </a:solidFill>
              </a:rPr>
              <a:t>102 GW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931920" y="3200400"/>
            <a:ext cx="1097280" cy="164592"/>
          </a:xfrm>
          <a:prstGeom prst="rect">
            <a:avLst>
              <a:gd name="adj" fmla="val 27778"/>
            </a:avLst>
          </a:prstGeom>
          <a:solidFill>
            <a:srgbClr val="44446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1920" y="3200400"/>
            <a:ext cx="252374" cy="164592"/>
          </a:xfrm>
          <a:prstGeom prst="rect">
            <a:avLst>
              <a:gd name="adj" fmla="val 27778"/>
            </a:avLst>
          </a:prstGeom>
          <a:solidFill>
            <a:srgbClr val="F99D27"/>
          </a:solidFill>
          <a:ln/>
        </p:spPr>
      </p:sp>
      <p:sp>
        <p:nvSpPr>
          <p:cNvPr id="19" name="Shape 17"/>
          <p:cNvSpPr/>
          <p:nvPr/>
        </p:nvSpPr>
        <p:spPr>
          <a:xfrm>
            <a:off x="5394960" y="18288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A2A4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2010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2377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9D27"/>
                </a:solidFill>
              </a:rPr>
              <a:t>174 GW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577840" y="3200400"/>
            <a:ext cx="1097280" cy="164592"/>
          </a:xfrm>
          <a:prstGeom prst="rect">
            <a:avLst>
              <a:gd name="adj" fmla="val 27778"/>
            </a:avLst>
          </a:prstGeom>
          <a:solidFill>
            <a:srgbClr val="444466"/>
          </a:solidFill>
          <a:ln/>
        </p:spPr>
      </p:sp>
      <p:sp>
        <p:nvSpPr>
          <p:cNvPr id="23" name="Shape 21"/>
          <p:cNvSpPr/>
          <p:nvPr/>
        </p:nvSpPr>
        <p:spPr>
          <a:xfrm>
            <a:off x="5577840" y="3200400"/>
            <a:ext cx="427939" cy="164592"/>
          </a:xfrm>
          <a:prstGeom prst="rect">
            <a:avLst>
              <a:gd name="adj" fmla="val 27778"/>
            </a:avLst>
          </a:prstGeom>
          <a:solidFill>
            <a:srgbClr val="F99D27"/>
          </a:solidFill>
          <a:ln/>
        </p:spPr>
      </p:sp>
      <p:sp>
        <p:nvSpPr>
          <p:cNvPr id="24" name="Shape 22"/>
          <p:cNvSpPr/>
          <p:nvPr/>
        </p:nvSpPr>
        <p:spPr>
          <a:xfrm>
            <a:off x="7040880" y="18288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A2A4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2015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2377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9D27"/>
                </a:solidFill>
              </a:rPr>
              <a:t>278 GW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223760" y="3200400"/>
            <a:ext cx="1097280" cy="164592"/>
          </a:xfrm>
          <a:prstGeom prst="rect">
            <a:avLst>
              <a:gd name="adj" fmla="val 27778"/>
            </a:avLst>
          </a:prstGeom>
          <a:solidFill>
            <a:srgbClr val="444466"/>
          </a:solidFill>
          <a:ln/>
        </p:spPr>
      </p:sp>
      <p:sp>
        <p:nvSpPr>
          <p:cNvPr id="28" name="Shape 26"/>
          <p:cNvSpPr/>
          <p:nvPr/>
        </p:nvSpPr>
        <p:spPr>
          <a:xfrm>
            <a:off x="7223760" y="3200400"/>
            <a:ext cx="680314" cy="164592"/>
          </a:xfrm>
          <a:prstGeom prst="rect">
            <a:avLst>
              <a:gd name="adj" fmla="val 27778"/>
            </a:avLst>
          </a:prstGeom>
          <a:solidFill>
            <a:srgbClr val="F99D27"/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0" y="18288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A2A4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0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2020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0" y="2377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9D27"/>
                </a:solidFill>
              </a:rPr>
              <a:t>370 GW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869680" y="3200400"/>
            <a:ext cx="1097280" cy="164592"/>
          </a:xfrm>
          <a:prstGeom prst="rect">
            <a:avLst>
              <a:gd name="adj" fmla="val 27778"/>
            </a:avLst>
          </a:prstGeom>
          <a:solidFill>
            <a:srgbClr val="444466"/>
          </a:solidFill>
          <a:ln/>
        </p:spPr>
      </p:sp>
      <p:sp>
        <p:nvSpPr>
          <p:cNvPr id="33" name="Shape 31"/>
          <p:cNvSpPr/>
          <p:nvPr/>
        </p:nvSpPr>
        <p:spPr>
          <a:xfrm>
            <a:off x="8869680" y="3200400"/>
            <a:ext cx="899770" cy="164592"/>
          </a:xfrm>
          <a:prstGeom prst="rect">
            <a:avLst>
              <a:gd name="adj" fmla="val 27778"/>
            </a:avLst>
          </a:prstGeom>
          <a:solidFill>
            <a:srgbClr val="F99D27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32720" y="18288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A2A4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32720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2025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332720" y="2377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9D27"/>
                </a:solidFill>
              </a:rPr>
              <a:t>450 GW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10515600" y="3200400"/>
            <a:ext cx="1097280" cy="164592"/>
          </a:xfrm>
          <a:prstGeom prst="rect">
            <a:avLst>
              <a:gd name="adj" fmla="val 27778"/>
            </a:avLst>
          </a:prstGeom>
          <a:solidFill>
            <a:srgbClr val="444466"/>
          </a:solidFill>
          <a:ln/>
        </p:spPr>
      </p:sp>
      <p:sp>
        <p:nvSpPr>
          <p:cNvPr id="38" name="Shape 36"/>
          <p:cNvSpPr/>
          <p:nvPr/>
        </p:nvSpPr>
        <p:spPr>
          <a:xfrm>
            <a:off x="10515600" y="3200400"/>
            <a:ext cx="1097280" cy="164592"/>
          </a:xfrm>
          <a:prstGeom prst="rect">
            <a:avLst>
              <a:gd name="adj" fmla="val 27778"/>
            </a:avLst>
          </a:prstGeom>
          <a:solidFill>
            <a:srgbClr val="F99D27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420624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A2A4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Milestones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3152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9D27"/>
                </a:solidFill>
              </a:rPr>
              <a:t>• 1991 — Sector Liberalization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1520" y="5349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9D27"/>
                </a:solidFill>
              </a:rPr>
              <a:t>• 2003 — Electricity Act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1520" y="5760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9D27"/>
                </a:solidFill>
              </a:rPr>
              <a:t>• 2010 — National Solar Mission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21792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9D27"/>
                </a:solidFill>
              </a:rPr>
              <a:t>• 2015 — 175 GW RE Target (COP21)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217920" y="5349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9D27"/>
                </a:solidFill>
              </a:rPr>
              <a:t>• 2020 — 100 GW Renewable Crossed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217920" y="5760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9D27"/>
                </a:solidFill>
              </a:rPr>
              <a:t>• 2022 — 500 GW Non-Fossil Target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ICICI Lombard General Insurance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Slide 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9D2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D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Renewable Revolution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Non-fossil share grew from 24% (2000) to 45.8% (2025)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☀️ Solar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9D27"/>
                </a:solidFill>
              </a:rPr>
              <a:t>90.6 GW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7315200" cy="228600"/>
          </a:xfrm>
          <a:prstGeom prst="rect">
            <a:avLst/>
          </a:prstGeom>
          <a:solidFill>
            <a:srgbClr val="1A3A4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03120"/>
            <a:ext cx="7315200" cy="228600"/>
          </a:xfrm>
          <a:prstGeom prst="rect">
            <a:avLst/>
          </a:prstGeom>
          <a:solidFill>
            <a:srgbClr val="F99D2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AAAA"/>
                </a:solidFill>
              </a:rPr>
              <a:t>From ~0 in 2010 → Fastest growing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💨 Wind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9E"/>
                </a:solidFill>
              </a:rPr>
              <a:t>47.7 GW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7315200" cy="228600"/>
          </a:xfrm>
          <a:prstGeom prst="rect">
            <a:avLst/>
          </a:prstGeom>
          <a:solidFill>
            <a:srgbClr val="1A3A4E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383280"/>
            <a:ext cx="3877056" cy="228600"/>
          </a:xfrm>
          <a:prstGeom prst="rect">
            <a:avLst/>
          </a:prstGeom>
          <a:solidFill>
            <a:srgbClr val="007A9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AAAA"/>
                </a:solidFill>
              </a:rPr>
              <a:t>Concentrated in TN, GJ, RJ, KA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💧 Large Hydro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B75"/>
                </a:solidFill>
              </a:rPr>
              <a:t>47.1 GW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7315200" cy="228600"/>
          </a:xfrm>
          <a:prstGeom prst="rect">
            <a:avLst/>
          </a:prstGeom>
          <a:solidFill>
            <a:srgbClr val="1A3A4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663440"/>
            <a:ext cx="3803904" cy="228600"/>
          </a:xfrm>
          <a:prstGeom prst="rect">
            <a:avLst/>
          </a:prstGeom>
          <a:solidFill>
            <a:srgbClr val="005B7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983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AAAA"/>
                </a:solidFill>
              </a:rPr>
              <a:t>Mature sector — HP, UK, JK, SK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⚛️ Nuclear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0" y="5486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1FA2"/>
                </a:solidFill>
              </a:rPr>
              <a:t>8.2 GW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5943600"/>
            <a:ext cx="7315200" cy="228600"/>
          </a:xfrm>
          <a:prstGeom prst="rect">
            <a:avLst/>
          </a:prstGeom>
          <a:solidFill>
            <a:srgbClr val="1A3A4E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5943600"/>
            <a:ext cx="658368" cy="2286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AAAA"/>
                </a:solidFill>
              </a:rPr>
              <a:t>Highest load factor (78.6%)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ICICI Lombard General Insurance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Slide 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9D2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</a:rPr>
              <a:t>The Load Factor Reality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Why installed capacity ≠ actual generation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</a:rPr>
              <a:t>Source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6888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B75"/>
                </a:solidFill>
              </a:rPr>
              <a:t>Capacity 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2A30"/>
                </a:solidFill>
              </a:rPr>
              <a:t>Generation 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9D27"/>
                </a:solidFill>
              </a:rPr>
              <a:t>Load Factor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6666"/>
                </a:solidFill>
              </a:rPr>
              <a:t>Gap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9601200" cy="6858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A30"/>
                </a:solidFill>
              </a:rPr>
              <a:t>Coal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B75"/>
                </a:solidFill>
              </a:rPr>
              <a:t>47.0%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2194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A30"/>
                </a:solidFill>
              </a:rPr>
              <a:t>62.4%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9D27"/>
                </a:solidFill>
              </a:rPr>
              <a:t>64.2%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3816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</a:rPr>
              <a:t>+15.4pp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96012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71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9D27"/>
                </a:solidFill>
              </a:rPr>
              <a:t>Solar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68880" y="2971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B75"/>
                </a:solidFill>
              </a:rPr>
              <a:t>20.1%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7680" y="29718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A30"/>
                </a:solidFill>
              </a:rPr>
              <a:t>8.1%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971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9D27"/>
                </a:solidFill>
              </a:rPr>
              <a:t>18.2%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38160" y="2971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-12.0pp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9601200" cy="6858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49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1FA2"/>
                </a:solidFill>
              </a:rPr>
              <a:t>Nuclear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468880" y="3749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B75"/>
                </a:solidFill>
              </a:rPr>
              <a:t>1.8%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97680" y="37490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A30"/>
                </a:solidFill>
              </a:rPr>
              <a:t>2.9%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3749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9D27"/>
                </a:solidFill>
              </a:rPr>
              <a:t>78.6%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38160" y="3749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</a:rPr>
              <a:t>+1.1pp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526280"/>
            <a:ext cx="96012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526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B75"/>
                </a:solidFill>
              </a:rPr>
              <a:t>Wind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468880" y="4526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B75"/>
                </a:solidFill>
              </a:rPr>
              <a:t>10.6%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297680" y="4526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A30"/>
                </a:solidFill>
              </a:rPr>
              <a:t>4.7%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09360" y="4526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9D27"/>
                </a:solidFill>
              </a:rPr>
              <a:t>21.5%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38160" y="4526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-5.9pp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5303520"/>
            <a:ext cx="9601200" cy="6858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303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0"/>
                </a:solidFill>
              </a:rPr>
              <a:t>Large Hydro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468880" y="5303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B75"/>
                </a:solidFill>
              </a:rPr>
              <a:t>10.5%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297680" y="5303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A30"/>
                </a:solidFill>
              </a:rPr>
              <a:t>9.6%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09360" y="5303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9D27"/>
                </a:solidFill>
              </a:rPr>
              <a:t>38.4%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138160" y="5303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-0.9pp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" y="5486400"/>
            <a:ext cx="10972800" cy="731520"/>
          </a:xfrm>
          <a:prstGeom prst="roundRect">
            <a:avLst>
              <a:gd name="adj" fmla="val 6250"/>
            </a:avLst>
          </a:prstGeom>
          <a:solidFill>
            <a:srgbClr val="FFF3E0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577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5100"/>
                </a:solidFill>
              </a:rPr>
              <a:t>💡 Coal runs 24/7 as baseload (PLF 64%). Solar only generates during daylight (CUF 18%). This is why India still depends on coal despite growing RE capacity.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ICICI Lombard General Insurance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Slide 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9D2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Who Owns India's Power?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Private sector dominates with 53.5% of installed capacity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640080"/>
          </a:xfrm>
          <a:prstGeom prst="rect">
            <a:avLst/>
          </a:prstGeom>
          <a:solidFill>
            <a:srgbClr val="005B7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Central 23%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0" y="1645920"/>
            <a:ext cx="2743200" cy="640080"/>
          </a:xfrm>
          <a:prstGeom prst="rect">
            <a:avLst/>
          </a:prstGeom>
          <a:solidFill>
            <a:srgbClr val="B02A30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645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State 23.5%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0" y="1645920"/>
            <a:ext cx="5852160" cy="640080"/>
          </a:xfrm>
          <a:prstGeom prst="rect">
            <a:avLst/>
          </a:prstGeom>
          <a:solidFill>
            <a:srgbClr val="F99D27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64592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Private 53.5%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2A2A4E"/>
          </a:solidFill>
          <a:ln w="25400">
            <a:solidFill>
              <a:srgbClr val="005B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B75"/>
                </a:solidFill>
              </a:rPr>
              <a:t>Central PSU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103.45 GW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NTPC (72.3 GW), NHPC, NPCIL, NLC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53% fossil / 47% non-fossil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265176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2A2A4E"/>
          </a:solidFill>
          <a:ln w="25400">
            <a:solidFill>
              <a:srgbClr val="B02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A30"/>
                </a:solidFill>
              </a:rPr>
              <a:t>State PSU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80560" y="3291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105.82 GW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80560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MAHAGENCO, GSECL, TANGEDCO, KPCL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68% fossil / 32% non-fossil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265176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2A2A4E"/>
          </a:solidFill>
          <a:ln w="25400">
            <a:solidFill>
              <a:srgbClr val="F99D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9D27"/>
                </a:solidFill>
              </a:rPr>
              <a:t>Private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3291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241.02 GW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321040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Adani Green (20.4 GW), Adani Power, Tata, ReNew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48% fossil / 52% non-fossil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ICICI Lombard General Insurance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Slide 7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9D2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State-wise Power 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Top states by installed capacity &amp; dominant energy source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9D27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Maharashtra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0" y="1627632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B02A3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16276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52.1 GW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9D27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Gujarat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0" y="2176272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B02A3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1762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46.8 GW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9D27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651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Rajasthan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0" y="2724912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99D27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27249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Solar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41.5 GW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9D27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Tamil Nadu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0" y="3273552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005B7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2735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38.9 GW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9D27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Karnataka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57600" y="3822192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99D27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38221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Solar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34.2 GW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9D27"/>
                </a:solidFill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4297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Uttar Pradesh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657600" y="4370832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B02A30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43708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32.6 GW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9D27"/>
                </a:solidFill>
              </a:rPr>
              <a:t>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5840" y="4846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Andhra Pradesh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657600" y="4919472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99D27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0" y="49194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Solar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4846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28.4 GW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720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9D27"/>
                </a:solidFill>
              </a:rPr>
              <a:t>8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05840" y="5394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Madhya Pradesh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657600" y="5468112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B02A30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0" y="54681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5394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26.8 GW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583680" y="1554480"/>
            <a:ext cx="5120640" cy="4754880"/>
          </a:xfrm>
          <a:prstGeom prst="roundRect">
            <a:avLst>
              <a:gd name="adj" fmla="val 1923"/>
            </a:avLst>
          </a:prstGeom>
          <a:solidFill>
            <a:srgbClr val="2A2A4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Regional Source Dominance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85800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9D27"/>
                </a:solidFill>
              </a:rPr>
              <a:t>🏭 Coal Belt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5800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MH, GJ, UP, MP, TS, WB, CG, OD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85800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~280 GW combined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580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9D27"/>
                </a:solidFill>
              </a:rPr>
              <a:t>💧 Hydro Belt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5800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HP, UK, JK, SK, AR, MZ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85800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Himalayan corridor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85800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9D27"/>
                </a:solidFill>
              </a:rPr>
              <a:t>☀️ Solar Belt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58000" y="4754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RJ, KA, AP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85800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Bhadla, Pavagada mega parks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858000" y="5394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9D27"/>
                </a:solidFill>
              </a:rPr>
              <a:t>💨 Wind Corridor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58000" y="5760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TN, GJ (coast)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858000" y="6035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Muppandal, Kutch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ICICI Lombard General Insurance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Slide 8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9D2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Future Outlook — 2026 to 2035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CCC"/>
                </a:solidFill>
              </a:rPr>
              <a:t>India targets 500 GW non-fossil by 2030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CCC"/>
                </a:solidFill>
              </a:rPr>
              <a:t>Year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CCC"/>
                </a:solidFill>
              </a:rPr>
              <a:t>Demand (GW)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CCC"/>
                </a:solidFill>
              </a:rPr>
              <a:t>Planned Supply (GW)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9D27"/>
                </a:solidFill>
              </a:rPr>
              <a:t>466 GW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</a:rPr>
              <a:t>478 GW 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2028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9D27"/>
                </a:solidFill>
              </a:rPr>
              <a:t>506 GW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2834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</a:rPr>
              <a:t>548 GW 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2030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9D27"/>
                </a:solidFill>
              </a:rPr>
              <a:t>550 GW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</a:rPr>
              <a:t>630 GW 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2032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4114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9D27"/>
                </a:solidFill>
              </a:rPr>
              <a:t>600 GW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0" y="4114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</a:rPr>
              <a:t>702 GW 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2035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4754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9D27"/>
                </a:solidFill>
              </a:rPr>
              <a:t>688 GW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14800" y="4754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</a:rPr>
              <a:t>822 GW 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58000" y="1645920"/>
            <a:ext cx="4846320" cy="4389120"/>
          </a:xfrm>
          <a:prstGeom prst="roundRect">
            <a:avLst>
              <a:gd name="adj" fmla="val 2083"/>
            </a:avLst>
          </a:prstGeom>
          <a:solidFill>
            <a:srgbClr val="3A1015"/>
          </a:solidFill>
          <a:ln w="12700">
            <a:solidFill>
              <a:srgbClr val="6615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Planned Additions 2026–2030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☀️ Solar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1832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99D27"/>
                </a:solidFill>
              </a:rPr>
              <a:t>+180 GW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32320" y="3200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💨 Wind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18320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5B75"/>
                </a:solidFill>
              </a:rPr>
              <a:t>+50 GW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3232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🏭 Coal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02A30"/>
                </a:solidFill>
              </a:rPr>
              <a:t>+10 GW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32320" y="4663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💧 Hydro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18320" y="4663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3D50"/>
                </a:solidFill>
              </a:rPr>
              <a:t>+8 GW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32320" y="5394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⚛️ Nuclear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18320" y="5394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B1FA2"/>
                </a:solidFill>
              </a:rPr>
              <a:t>+8 GW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ICICI Lombard General Insurance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Slide 9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9D2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54864"/>
          </a:xfrm>
          <a:prstGeom prst="rect">
            <a:avLst/>
          </a:prstGeom>
          <a:solidFill>
            <a:srgbClr val="F99D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✅  India's power capacity grew 22.5× from 20 GW (1975) to 450 GW (2025)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✅  Non-fossil share nearly doubled from 24% to 45.8% in 25 years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✅  Solar is the fastest growing source — 0 to 90.6 GW in 15 years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✅  Coal still generates 62% of electricity due to higher load factors (64% PLF vs 18% CUF for solar)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✅  Private sector owns 53.5% of capacity — led by Adani, Tata, ReNew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✅  India plans to add ~250 GW by 2030 — primarily solar &amp; wind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56692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✅  Supply is projected to exceed demand through 2035 with current plans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56692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2A2A4E"/>
          </a:solidFill>
          <a:ln w="12700">
            <a:solidFill>
              <a:srgbClr val="F99D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7150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9D27"/>
                </a:solidFill>
              </a:rPr>
              <a:t>🎯 India is on track for its 500 GW non-fossil target by 2030 — a fundamental transformation of its energy landscape.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ICICI Lombard General Insurance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Slide 10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9D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India Power Sector Story</dc:subject>
  <dc:creator>ICICI Lombard Analytics</dc:creator>
  <cp:lastModifiedBy>ICICI Lombard Analytics</cp:lastModifiedBy>
  <cp:revision>1</cp:revision>
  <dcterms:created xsi:type="dcterms:W3CDTF">2026-07-28T09:33:58Z</dcterms:created>
  <dcterms:modified xsi:type="dcterms:W3CDTF">2026-07-28T09:33:58Z</dcterms:modified>
</cp:coreProperties>
</file>