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INDIA ENERGY RESEARCH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827"/>
                </a:solidFill>
              </a:rPr>
              <a:t>India's Power Sector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827"/>
                </a:solidFill>
              </a:rPr>
              <a:t>A Comprehensive Overview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</a:rPr>
              <a:t>450 GW installed • 1,752 BU generated • 36 states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</a:rPr>
              <a:t>From 20 GW (1975) to 450 GW (2025) — a 22.5× transformation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5303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July 2026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Data: CEA • MNRE • Ministry of Power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0" y="2743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FFFFFF"/>
                </a:solidFill>
              </a:rPr>
              <a:t>⚡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India Energy Research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1 / 10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F766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The Big Picture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India's power sector at a glance — June 2026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766E"/>
                </a:solidFill>
              </a:rPr>
              <a:t>450 GW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Installed Capacity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1031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</a:rPr>
              <a:t>1,752 BU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Annual Generation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1031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54 : 46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0936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Fossil : Non-Fossil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235440" y="18288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21031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0AF"/>
                </a:solidFill>
              </a:rPr>
              <a:t>53.5%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23544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Private Sector Share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India Energy Research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2 / 10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F766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Energy Mix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612648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🔥 Fossil — 243.87 GW (54.2%)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0" y="1371600"/>
            <a:ext cx="5148072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371600"/>
            <a:ext cx="5148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🌿 Non-Fossil — 206.42 GW (45.8%)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Fossil 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</a:rPr>
              <a:t>Coal  —  211,540 MW  (47.0%)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</a:rPr>
              <a:t>Gas  —  24,900 MW  (5.5%)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</a:rPr>
              <a:t>Lignite  —  6,740 MW  (1.5%)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</a:rPr>
              <a:t>Diesel  —  690 MW  (0.2%)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Non-Fossil Sources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2560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</a:rPr>
              <a:t>Solar  —  90,570 MW  (20.1%)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7512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</a:rPr>
              <a:t>Wind  —  47,650 MW  (10.6%)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7512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</a:rPr>
              <a:t>Large Hydro  —  47,050 MW  (10.5%)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75120" y="3657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</a:rPr>
              <a:t>Biomass  —  10,750 MW  (2.4%)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75120" y="4023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</a:rPr>
              <a:t>Nuclear  —  8,180 MW  (1.8%)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India Energy Research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3 / 10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F766E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Growth Timeline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280"/>
                </a:solidFill>
              </a:rPr>
              <a:t>1975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20 GW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State monopoly era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280"/>
                </a:solidFill>
              </a:rPr>
              <a:t>2000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743200" y="1920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102 GW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Post-liberalization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0" y="137160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280"/>
                </a:solidFill>
              </a:rPr>
              <a:t>2010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174 GW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Solar Mission launched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0" y="137160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280"/>
                </a:solidFill>
              </a:rPr>
              <a:t>2020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15200" y="1920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370 GW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100 GW RE crossed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601200" y="137160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280"/>
                </a:solidFill>
              </a:rPr>
              <a:t>2025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601200" y="1920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450 GW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0120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46% non-fossil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Key Milestones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• 1991 — Sector liberalization, private IPP entry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• 2003 — Electricity Act restructured the sector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• 2010 — National Solar Mission (JNNSM) launched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648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• 2015 — 175 GW RE target at Paris COP21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2648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• 2020 — Crossed 100 GW renewable capacity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2648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• 2022 — 500 GW non-fossil target announced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India Energy Research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4 / 10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F766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Capacity vs Generation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Why installed capacity ≠ actual generation — the load factor effect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Source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Capacity 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Generation 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PLF/CUF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Insight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0972800" cy="5029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Coal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560320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47.0%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89120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62.4%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2103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64.2%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Baseload — runs 24/7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10972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51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Solar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560320" y="2651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20.1%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89120" y="2651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8.1%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2651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18.2%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0" y="2651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Daylight only — needs storage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10972800" cy="5029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Wind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560320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10.6%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389120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4.7%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1792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21.5%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0" y="3200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Seasonal — monsoon peak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10972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749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Large Hydro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2560320" y="3749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10.5%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389120" y="3749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9.6%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17920" y="3749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38.4%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72400" y="3749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Balanced — grid stabilizer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7200" y="4297680"/>
            <a:ext cx="10972800" cy="5029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297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Nuclear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2560320" y="4297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1.8%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389120" y="4297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2.9%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217920" y="4297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78.6%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772400" y="4297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Highest efficiency source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India Energy Research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5 / 10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F766E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Ownership Structure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Central 23%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08960" y="1280160"/>
            <a:ext cx="27432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State 23.5%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0" y="1280160"/>
            <a:ext cx="585216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2801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Private 53.5%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9FAFB"/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Central PSU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103.45 GW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NTPC (72 GW), NHPC, NPCIL • 53% fossil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97680" y="21031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9FAFB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State PSU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105.82 GW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3383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MAHAGENCO, GSECL, TANGEDCO • 68% fossil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38160" y="21031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9FAF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Private Sector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241.02 GW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12480" y="3383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Adani Green (20 GW), Tata, ReNew • 52% non-fossil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India Energy Research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6 / 10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F766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State-wise Distribution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Maharashtra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840480" y="1280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52.1 GW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394960" y="1280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Gujarat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4048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46.8 GW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394960" y="1737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Rajasthan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4048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41.5 GW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394960" y="2194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Solar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Tamil Nadu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40480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38.9 GW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394960" y="2651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Wind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Karnataka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84048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34.2 GW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394960" y="3108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Solar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Uttar Pradesh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84048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32.6 GW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394960" y="3566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Coal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Andhra Pradesh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84048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28.4 GW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394960" y="4023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Solar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7200" y="4480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584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Madhya Pradesh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3840480" y="4480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26.8 GW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394960" y="4480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Coal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7200" y="4937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9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05840" y="4937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Telangana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3840480" y="4937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20.5 GW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5394960" y="4937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Coal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57200" y="5394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10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0584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West Bengal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3840480" y="5394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18.2 GW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5394960" y="5394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Coal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India Energy Research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7 / 10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F766E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Future Outlook 2026–2035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Target: 500 GW non-fossil capacity by 2030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Year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Demand (GW)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Supply (GW)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2026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466 GW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59669"/>
                </a:solidFill>
              </a:rPr>
              <a:t>478 GW 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2028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2880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506 GW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59669"/>
                </a:solidFill>
              </a:rPr>
              <a:t>548 GW 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2030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550 GW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59669"/>
                </a:solidFill>
              </a:rPr>
              <a:t>630 GW 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2032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82880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600 GW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59669"/>
                </a:solidFill>
              </a:rPr>
              <a:t>702 GW 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2035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8288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688 GW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59669"/>
                </a:solidFill>
              </a:rPr>
              <a:t>822 GW 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Planned Additions 2026–2030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</a:rPr>
              <a:t>Solar:  +180 GW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7512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</a:rPr>
              <a:t>Wind:  +50 GW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67512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</a:rPr>
              <a:t>Coal:  +10 GW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67512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</a:rPr>
              <a:t>Hydro:  +8 GW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67512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</a:rPr>
              <a:t>Nuclear:  +8 GW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India Energy Research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8 / 10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F766E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Risk Landscape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</a:rPr>
              <a:t>Source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0312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</a:rPr>
              <a:t>Top AOG Peril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0352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</a:rPr>
              <a:t>Top Non-AOG Peril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</a:rPr>
              <a:t>Typical Claim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11247120" cy="5029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459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Coal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03120" y="1645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Flood / Cyclone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0" y="1645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Boiler Explosion / Turbine Failure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0" y="1645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₹50–500 Cr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112471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94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Wind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103120" y="2194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Cyclone / Lightning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2194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Gearbox / Blade Failure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0" y="2194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₹5–200 Cr (portfolio)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11247120" cy="5029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743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Solar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03120" y="2743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Hailstorm / Cyclone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03520" y="2743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Inverter Failure / Fire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3920" y="2743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₹20–200 Cr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11247120" cy="2286000"/>
          </a:xfrm>
          <a:prstGeom prst="roundRect">
            <a:avLst>
              <a:gd name="adj" fmla="val 32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Insurance Considerations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4297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47857"/>
                </a:solidFill>
              </a:rPr>
              <a:t>• Coal: Turbine failures = longest BI (12–18 months lead time)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47857"/>
                </a:solidFill>
              </a:rPr>
              <a:t>• Wind: Crane availability is critical — 3–6 months wait in India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47857"/>
                </a:solidFill>
              </a:rPr>
              <a:t>• Solar: Hailstorm emerged as #1 peril post-2020 (can damage 80% modules)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47857"/>
                </a:solidFill>
              </a:rPr>
              <a:t>• All: Business Interruption often exceeds Material Damage claim value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47857"/>
                </a:solidFill>
              </a:rPr>
              <a:t>• Best practice: Pre-agreed repair protocols, regional spare depots, parametric covers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India Energy Research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9 / 10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F766E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✅  Capacity grew 22.5× from 20 GW (1975) to 450 GW (2025)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✅  Non-fossil share doubled: 24% → 45.8% in 25 years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✅  Solar: fastest growth in history — 0 to 162 GW in 12 years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✅  Coal still generates 62% of electricity (PLF 64% vs Solar CUF 18%)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✅  Private sector owns 53.5% — Adani, Tata, ReNew lead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✅  India adding ~50 GW/year — 75% from renewables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✅  On track for 500 GW non-fossil by 2030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53035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349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India is undergoing a fundamental energy transformation — from coal-dependent to a diversified, renewable-first power system.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India Energy Research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10 / 10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F76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India Power Sector Story</dc:subject>
  <dc:creator>India Energy Research</dc:creator>
  <cp:lastModifiedBy>India Energy Research</cp:lastModifiedBy>
  <cp:revision>1</cp:revision>
  <dcterms:created xsi:type="dcterms:W3CDTF">2026-07-28T09:35:07Z</dcterms:created>
  <dcterms:modified xsi:type="dcterms:W3CDTF">2026-07-28T09:35:07Z</dcterms:modified>
</cp:coreProperties>
</file>